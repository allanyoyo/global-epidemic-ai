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4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14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开场(约2分钟):自我介绍后直接点题——今天用半小时介绍一套刚投入使用的全球动植物疫情情报系统。先讲大家的工作痛点,再讲系统是什么、怎么运转、每天怎么用。欢迎大家随时打断提问,结束后留 5 分钟集中答疑。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3分钟。先问大家日常工作方式:全球疫情通报平时谁在盯?怎么盯?点出三个痛点:来源分散、翻译滞后、逐条查证费时。然后给出定位:系统不是替代人,而是替大家干“扫一遍、辨真假、排顺序”三件重复性工作,人只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本节约3分钟。强调两点:一是工作对象不是新闻网站而是官方和专业信源;二是两条底线贯穿全系统——可溯源、不编造,后面每部分都会看到这两条如何落地。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4分钟。重点讲三级信源的用法差异:官方可直接采信,专业源只作早期线索,媒体源必须回溯出处。强调周边国家(俄远东、日、韩、越)为什么优先——传入路径最直接。多语言能力是人工盯守做不到的,值得点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本节约3分钟。病害清单报几个代表名即可,不必念全。强调两点:核心病害(非洲猪瘟、禽流感、口蹄疫)每轮必查;清单开放调整,大家想加病害/国家/产品,告诉管理员即可,这是系统很重要的开放性。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本节约4分钟,是全场核心页。用“五个岗位”讲流水线:侦察→整理→核查→分析→报告,一环扣一环。强调交接的不是自由文本而是标准事件卡,调度台验货后才放行——这保证了每天的产出稳定可靠。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本节约2.5分钟。第3条是重点:评分绑定贸易事实,商品关联权重最高,且禁止编造贸易数据;每个结论都能回答“为什么”。第2条体现严谨——“没找到官方源”只降级、不定性为假。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本节约2分钟。这一页的颜色就是日报、地图和面板上实际使用的颜色。红的判定标准四个条件同时看,尤其“尚无针对性措施”——已有禁令的会降档。灰点不是故障,是还没评完分。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本节约2分钟。四级状态的口径要讲准:核验不是简单判真假,“没找到官方源”只降级为待核实;只有发现矛盾证据才标存疑。底部黑条是全系统最重要的原则——每条都带原文链接,点开就能回到官方通报。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3分钟。按省事程度排:大多数人每天只需要方式一——看群消息;想看图、想筛选查历史,用方式二;定向查问用方式三。可现场打开雷达面板演示一遍(地图点一个圆点→事件库筛选“立即关注”→打开当期日报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本节约2分钟。教大家最短路径:五问速览→红色事件→待核实→Word转发。强调“立即关注”通常0~3条,不会淹没在海量信息里——这正是风险排序的价值。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本节约1分钟,务必讲清。这不是套话:AI 生成内容存在出错可能,系统的应对是分级标注+全程可溯源,但正式判断必须以海关总署、农业农村部官方公告为准。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收尾(约1分钟)+答疑(5分钟)。答疑预案:①网页打不开→先 Ctrl+F5 强刷,再找管理员;②圆点少→能定位到国家的事件才画点,不是故障;③灰点何时变色→下轮报告自动补;④待核实能否引用→了解可以,引用等升级为已核验;⑤能否作为执法依据→不能,以官方公告为准;⑥想加关注清单→告诉管理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1097280"/>
            <a:ext cx="4663440" cy="4663440"/>
          </a:xfrm>
          <a:prstGeom prst="ellipse">
            <a:avLst/>
          </a:prstGeom>
          <a:ln w="12700">
            <a:solidFill>
              <a:srgbClr val="2E4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07070" y="1843430"/>
            <a:ext cx="3171139" cy="3171139"/>
          </a:xfrm>
          <a:prstGeom prst="ellipse">
            <a:avLst/>
          </a:prstGeom>
          <a:ln w="12700">
            <a:solidFill>
              <a:srgbClr val="2E4A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3221" y="2589581"/>
            <a:ext cx="1678838" cy="1678838"/>
          </a:xfrm>
          <a:prstGeom prst="ellipse">
            <a:avLst/>
          </a:prstGeom>
          <a:ln w="12700">
            <a:solidFill>
              <a:srgbClr val="2E4A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25478" y="2763774"/>
            <a:ext cx="164592" cy="164592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8444484" y="5351983"/>
            <a:ext cx="164592" cy="16459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056010" y="4792370"/>
            <a:ext cx="164592" cy="164592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Shape 6"/>
          <p:cNvSpPr/>
          <p:nvPr/>
        </p:nvSpPr>
        <p:spPr>
          <a:xfrm>
            <a:off x="7628382" y="2180844"/>
            <a:ext cx="164592" cy="164592"/>
          </a:xfrm>
          <a:prstGeom prst="ellipse">
            <a:avLst/>
          </a:prstGeom>
          <a:solidFill>
            <a:srgbClr val="98A4A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727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 err="1">
                <a:solidFill>
                  <a:srgbClr val="9FB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系统介绍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疫见全球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 err="1">
                <a:solidFill>
                  <a:srgbClr val="9FB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</a:t>
            </a:r>
            <a:r>
              <a:rPr lang="en-US" sz="2400" dirty="0" err="1">
                <a:solidFill>
                  <a:srgbClr val="9FB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全球动植物疫情智能情报雷达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96112" y="3913632"/>
            <a:ext cx="2377440" cy="0"/>
          </a:xfrm>
          <a:prstGeom prst="line">
            <a:avLst/>
          </a:prstGeom>
          <a:noFill/>
          <a:ln w="31750">
            <a:solidFill>
              <a:srgbClr val="D954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9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让全球疫情信息,从“新闻”变成“风险情报”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9FB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绍兴海关驻诸暨办事处 陈敏强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背景与痛点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全球疫情信息,人工盯不过来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来源分散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几十个国家的官方通报、十几种语言,WOAH、FAO、各国检疫机构各发各的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539496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时效滞后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等消息翻译传到国内,往往已经滞后一两天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352544"/>
            <a:ext cx="539496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26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判断费时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" y="491032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真假?跟中国有没有关系?严不严重?——逐条查证要花大量时间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330952" cy="4297680"/>
          </a:xfrm>
          <a:prstGeom prst="roundRect">
            <a:avLst>
              <a:gd name="adj" fmla="val 1915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系统替你干三件事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5C6E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7360920" y="25283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每天把全球通报扫一遍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12280" y="32644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5C6E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7360920" y="32781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把真假核验一遍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812280" y="40142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5C6E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92" dirty="0"/>
          </a:p>
        </p:txBody>
      </p:sp>
      <p:sp>
        <p:nvSpPr>
          <p:cNvPr id="29" name="Text 27"/>
          <p:cNvSpPr/>
          <p:nvPr/>
        </p:nvSpPr>
        <p:spPr>
          <a:xfrm>
            <a:off x="7360920" y="40279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按对华风险排好序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812280" y="4846320"/>
            <a:ext cx="4480560" cy="0"/>
          </a:xfrm>
          <a:prstGeom prst="line">
            <a:avLst/>
          </a:prstGeom>
          <a:noFill/>
          <a:ln w="12700">
            <a:solidFill>
              <a:srgbClr val="D8E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5029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产出一份看得懂、查得到出处的情报日报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系统定位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一台全年无休的“全球疫情雷达”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每天自动回答五个问题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2588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哪些疫情正在发生?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2615184"/>
            <a:ext cx="48463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25880" y="2852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发生在哪里?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325880" y="3456432"/>
            <a:ext cx="48463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2102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25880" y="36941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涉及什么动植物?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25880" y="4297680"/>
            <a:ext cx="48463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6227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25880" y="4535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是否可能影响我国?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325880" y="5138928"/>
            <a:ext cx="48463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03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325880" y="5376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哪些值得立即关注?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03720" y="1481328"/>
            <a:ext cx="4828032" cy="2286000"/>
          </a:xfrm>
          <a:prstGeom prst="roundRect">
            <a:avLst>
              <a:gd name="adj" fmla="val 3600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948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只看官方与专业信源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2176272"/>
            <a:ext cx="4160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WOAH(世界动物卫生组织)· FAO · WHO · EPPO / IPPC · 各国官方检疫机构 · 海关总署 · 农业农村部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903720" y="3977640"/>
            <a:ext cx="4828032" cy="1920240"/>
          </a:xfrm>
          <a:prstGeom prst="roundRect">
            <a:avLst>
              <a:gd name="adj" fmla="val 4286"/>
            </a:avLst>
          </a:prstGeom>
          <a:solidFill>
            <a:srgbClr val="122B33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6948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两条底线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9480" y="46177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每条信息可溯源——附原始链接与原文引用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269480" y="5193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不编造——信息缺失就如实空着,绝不推测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情报来源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 个采集点,按可信度分三级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D95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7600" dirty="0"/>
          </a:p>
        </p:txBody>
      </p:sp>
      <p:sp>
        <p:nvSpPr>
          <p:cNvPr id="12" name="Text 10"/>
          <p:cNvSpPr/>
          <p:nvPr/>
        </p:nvSpPr>
        <p:spPr>
          <a:xfrm>
            <a:off x="566928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全球情报采集点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154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覆盖国际组织、周边国家、欧美亚各大洲官方机构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77640" y="1554480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154654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55448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1 官方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57276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WOAH 疫情信息系统 · FAO · WHO · EPPO · 海关总署 · 农业农村部等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0" y="1984248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最可信,可直接确认疫情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77640" y="2523744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1D5C6E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2523744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2 专业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254203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ProMED 早期预警 · CIDRAP · 行业媒体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15000" y="295351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早期线索,须经官方核验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977640" y="3493008"/>
            <a:ext cx="1481328" cy="749808"/>
          </a:xfrm>
          <a:prstGeom prst="roundRect">
            <a:avLst>
              <a:gd name="adj" fmla="val 8537"/>
            </a:avLst>
          </a:prstGeom>
          <a:solidFill>
            <a:srgbClr val="D8E7EA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3493008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3 媒体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351129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国内外新闻报道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715000" y="392277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只当线索,必须回溯原始出处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977640" y="4572000"/>
            <a:ext cx="7754112" cy="1481328"/>
          </a:xfrm>
          <a:prstGeom prst="roundRect">
            <a:avLst>
              <a:gd name="adj" fmla="val 5556"/>
            </a:avLst>
          </a:prstGeom>
          <a:solidFill>
            <a:srgbClr val="EEF4F5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4773168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周边国家重点覆盖:俄罗斯(含远东接壤地区)· 日本 · 韩国 · 越南——传入路径评估价值最高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多语言不设障:俄 / 日 / 韩 / 波兰语等页面由 AI 直接阅读,不必等翻译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数据口径:系统情报源清单(2026-09)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关注清单与节奏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种重点病害,每天两轮扫描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566928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种重点病害在盯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动物疫病 8 种 + 植物有害生物 8 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动物疫病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非洲猪瘟 ●  高致病性禽流感 ●  口蹄疫 ●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小反刍兽疫 · 结节性皮肤病 · 经典猪瘟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新城疫 · 非洲马瘟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植物有害生物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番茄褐色皱果病毒 · 香蕉枯萎病 TR4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小麦秆锈病 Ug99 · 沙漠蝗 · 草地贪夜蛾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柑橘黄龙病 · 马铃薯晚疫病 · 松材线虫病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1081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核心病害(非洲猪瘟 / 禽流感 / 口蹄疫),每轮必查;清单可随时增删——想重点盯什么,告诉管理员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508760"/>
            <a:ext cx="5010912" cy="4434840"/>
          </a:xfrm>
          <a:prstGeom prst="roundRect">
            <a:avLst>
              <a:gd name="adj" fmla="val 1856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运行节奏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06:30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6968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晨扫 · 全量检索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0" y="2633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产出日报 + 群推送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0" y="3493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18:00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869680" y="3511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晚扫 · 增量补扫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刷新当日日报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32320" y="470001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869680" y="47183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附加周报源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0" y="5047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EPPO · IPPC · 沙漠蝗旬报等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0" y="5532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全程自动运行,无需人工触发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生产流程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日报怎么生产:五道工序流水线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2121408" cy="1783080"/>
          </a:xfrm>
          <a:prstGeom prst="roundRect">
            <a:avLst>
              <a:gd name="adj" fmla="val 4103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18288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侦察员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" y="2249424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按关注清单翻看全球官方通报与专业信源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92324" y="2537460"/>
            <a:ext cx="118872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24912" y="1645920"/>
            <a:ext cx="2121408" cy="1783080"/>
          </a:xfrm>
          <a:prstGeom prst="roundRect">
            <a:avLst>
              <a:gd name="adj" fmla="val 4103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9504" y="18288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整理员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9504" y="2249424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把线索读明白,摘成标准“疫情事件卡”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60036" y="2537460"/>
            <a:ext cx="118872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92624" y="1645920"/>
            <a:ext cx="2121408" cy="1783080"/>
          </a:xfrm>
          <a:prstGeom prst="roundRect">
            <a:avLst>
              <a:gd name="adj" fmla="val 4103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57216" y="18288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核查员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57216" y="2249424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找官方出处,多源交叉比对,辨认真假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27748" y="2537460"/>
            <a:ext cx="118872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60336" y="1645920"/>
            <a:ext cx="2121408" cy="1783080"/>
          </a:xfrm>
          <a:prstGeom prst="roundRect">
            <a:avLst>
              <a:gd name="adj" fmla="val 4103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24928" y="18288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分析师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4928" y="2249424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评估每起疫情对中国的风险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95460" y="2537460"/>
            <a:ext cx="118872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28048" y="1645920"/>
            <a:ext cx="2121408" cy="1783080"/>
          </a:xfrm>
          <a:prstGeom prst="roundRect">
            <a:avLst>
              <a:gd name="adj" fmla="val 4103"/>
            </a:avLst>
          </a:prstGeom>
          <a:solidFill>
            <a:srgbClr val="154654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92640" y="18288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报告员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2249424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汇编日报、Word 简报与群推送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361188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总调度按序派活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7200" y="45902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收到指令后依次调度五道工序,每道完工先“验货”再交接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70832" y="4069080"/>
            <a:ext cx="361188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只传同一种“事件卡”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370832" y="45902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字段固定、带状态标签,全程留痕,出问题能追到具体哪张卡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84464" y="4069080"/>
            <a:ext cx="361188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464" y="42245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5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一句话可只派一道工序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284464" y="45902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“先搜搜今天有什么疫情”“评估德国猪病的对华风险”都可以单独执行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产出:每日日报(网页)· Word 情报简报 · Excel 明细表 · 企微/钉钉群推送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设计原则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四个关键设计,保证结论可靠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8249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D5C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96" dirty="0"/>
          </a:p>
        </p:txBody>
      </p:sp>
      <p:sp>
        <p:nvSpPr>
          <p:cNvPr id="13" name="Text 11"/>
          <p:cNvSpPr/>
          <p:nvPr/>
        </p:nvSpPr>
        <p:spPr>
          <a:xfrm>
            <a:off x="1143000" y="1627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标准事件卡交接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3000" y="20299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字段固定、状态标签管理——没盖“已核验”章的卡,分析师直接拒收;同样输入,同样产出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" y="2633472"/>
            <a:ext cx="103327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1635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D5C6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96" dirty="0"/>
          </a:p>
        </p:txBody>
      </p:sp>
      <p:sp>
        <p:nvSpPr>
          <p:cNvPr id="18" name="Text 16"/>
          <p:cNvSpPr/>
          <p:nvPr/>
        </p:nvSpPr>
        <p:spPr>
          <a:xfrm>
            <a:off x="114300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核验分四级,不搞一刀切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316382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找不到官方出处只降级为“待核实”,不武断定性为假消息;查证过程全留痕,可回溯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3767328"/>
            <a:ext cx="103327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5020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D9543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96" dirty="0"/>
          </a:p>
        </p:txBody>
      </p:sp>
      <p:sp>
        <p:nvSpPr>
          <p:cNvPr id="23" name="Text 21"/>
          <p:cNvSpPr/>
          <p:nvPr/>
        </p:nvSpPr>
        <p:spPr>
          <a:xfrm>
            <a:off x="1143000" y="38953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四维对华风险评分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3000" y="42976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商品关联(权重最高)· 传入路径 · 后果严重性 · 现有海关措施;每个结论附一句“为什么”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43000" y="4901184"/>
            <a:ext cx="103327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08406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D5C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96" dirty="0"/>
          </a:p>
        </p:txBody>
      </p:sp>
      <p:sp>
        <p:nvSpPr>
          <p:cNvPr id="28" name="Text 26"/>
          <p:cNvSpPr/>
          <p:nvPr/>
        </p:nvSpPr>
        <p:spPr>
          <a:xfrm>
            <a:off x="1143000" y="5029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单环故障不卡线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43000" y="54315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某个官网临时打不开,相关事件留在“待核实”,日报照常出,下一轮自动补核验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结果解读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看颜色:对华风险等级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310896" cy="3108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6459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88920" y="168249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与中国有贸易关联、有传入可能、危害大、且尚无针对性措施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1682496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立即看详情,跟踪后续通报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112471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79776"/>
            <a:ext cx="310896" cy="3108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6883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88920" y="27249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存在一定关联或传入可能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72491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知晓即可,持续观察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112471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822192"/>
            <a:ext cx="310896" cy="3108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7307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88920" y="376732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关联弱、距离远,或已有措施管控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376732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无需处理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626864"/>
            <a:ext cx="112471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864608"/>
            <a:ext cx="310896" cy="310896"/>
          </a:xfrm>
          <a:prstGeom prst="ellipse">
            <a:avLst/>
          </a:prstGeom>
          <a:solidFill>
            <a:srgbClr val="98A4AC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773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未研判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788920" y="480974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事件太新,还没完成风险评估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480974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等下一轮报告补上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760720"/>
            <a:ext cx="10607040" cy="566928"/>
          </a:xfrm>
          <a:prstGeom prst="roundRect">
            <a:avLst>
              <a:gd name="adj" fmla="val 11290"/>
            </a:avLst>
          </a:prstGeom>
          <a:solidFill>
            <a:srgbClr val="EEF4F5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607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评分绑定贸易事实:中国是否进口 · 能否传入 · 后果多大 · 海关是否已有禁令或警示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结果解读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看状态:这条消息可信吗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1D5C6E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8836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找到了官方出处(如 WOAH 通报),最可信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91256" y="2628900"/>
            <a:ext cx="155448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64992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D8E7EA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93592" y="18836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单一来源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93592" y="239572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目前只有一个来源,暂未有官方确认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53328" y="2628900"/>
            <a:ext cx="155448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7064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55664" y="18836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55664" y="239572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暂时没找到更多来源,看看就好,别急着采信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15400" y="2628900"/>
            <a:ext cx="155448" cy="0"/>
          </a:xfrm>
          <a:prstGeom prst="line">
            <a:avLst/>
          </a:prstGeom>
          <a:noFill/>
          <a:ln w="19050">
            <a:solidFill>
              <a:srgbClr val="6B7A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89136" y="16459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7E8E4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17736" y="188366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63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存疑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17736" y="2395728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发现相互矛盾的证据,基本可判定不实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4069080"/>
            <a:ext cx="11183112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6926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可信度递减 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800600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122B33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8006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每条事件都附原始来源链接 —— 结论可以有争议,出处必须能查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日常使用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每天怎么用:三种方式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938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 · 群里收推送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5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早晚两次,企微 / 钉钉自动收到卡片:今日疫情总数、哪些“立即关注”、全文链接。你什么都不用做,看消息就行。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88536" y="164592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154654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62856" y="1938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 · 网页雷达面板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2856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9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62856" y="28346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深色“指挥中心”页面:疫情地图打点、事件库按风险/核验/时间筛选、日报在线阅读,右上角可下载 Word 简报与 Excel 明细。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9872" y="164592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94192" y="19385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方式三 · 说一句话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94192" y="2395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5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最灵活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94192" y="28346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对智能助手说“生成今日疫情日报”“评估一下德国猪病的对华风险”,按需执行,几分钟后出结果。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日报读法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拿到日报,3 分钟读完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16184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先看“今日五问速览”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71600" y="202082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五个问题的答案就在报告最前面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371600" y="2569464"/>
            <a:ext cx="548640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15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5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27340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只细看红色“立即关注”事件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1363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0~3 条,每条附一句话摘要和“为什么与中国有关”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371600" y="3685032"/>
            <a:ext cx="548640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3133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38496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扫一眼“待核实信息”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知道哪些消息还没坐实即可,不必逐一处理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371600" y="4800600"/>
            <a:ext cx="548640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4690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71600" y="4965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转发或存档,用 Word 版简报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71600" y="53675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正式排版,可直接报送给领导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52360" y="1600200"/>
            <a:ext cx="4279392" cy="4160520"/>
          </a:xfrm>
          <a:prstGeom prst="roundRect">
            <a:avLst>
              <a:gd name="adj" fmla="val 1978"/>
            </a:avLst>
          </a:prstGeom>
          <a:solidFill>
            <a:srgbClr val="EEF4F5"/>
          </a:solidFill>
          <a:ln/>
          <a:effectLst>
            <a:outerShdw blurRad="88900" dist="25400" dir="5400000" algn="bl" rotWithShape="0">
              <a:srgbClr val="1F2A33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46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每期交付物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818120" y="2450592"/>
            <a:ext cx="128016" cy="128016"/>
          </a:xfrm>
          <a:prstGeom prst="ellipse">
            <a:avLst/>
          </a:prstGeom>
          <a:solidFill>
            <a:srgbClr val="1D5C6E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232257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每日日报 —— 网页在线阅读 / 群卡片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818120" y="3291840"/>
            <a:ext cx="128016" cy="128016"/>
          </a:xfrm>
          <a:prstGeom prst="ellipse">
            <a:avLst/>
          </a:prstGeom>
          <a:solidFill>
            <a:srgbClr val="1D5C6E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31638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情报简报 —— 正式排版可转发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818120" y="4133088"/>
            <a:ext cx="128016" cy="128016"/>
          </a:xfrm>
          <a:prstGeom prst="ellipse">
            <a:avLst/>
          </a:prstGeom>
          <a:solidFill>
            <a:srgbClr val="1D5C6E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40050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事件明细表 —— 逐条可筛选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818120" y="4974336"/>
            <a:ext cx="128016" cy="128016"/>
          </a:xfrm>
          <a:prstGeom prst="ellipse">
            <a:avLst/>
          </a:prstGeom>
          <a:solidFill>
            <a:srgbClr val="1D5C6E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8463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全部结论附官方来源链接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02336"/>
            <a:ext cx="621792" cy="621792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64311" y="501823"/>
            <a:ext cx="422819" cy="422819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63797" y="601309"/>
            <a:ext cx="223845" cy="223845"/>
          </a:xfrm>
          <a:prstGeom prst="ellipse">
            <a:avLst/>
          </a:prstGeom>
          <a:ln w="12700">
            <a:solidFill>
              <a:srgbClr val="DC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565" y="563270"/>
            <a:ext cx="82296" cy="8229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11216945" y="796442"/>
            <a:ext cx="82296" cy="822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7" name="Shape 5"/>
          <p:cNvSpPr/>
          <p:nvPr/>
        </p:nvSpPr>
        <p:spPr>
          <a:xfrm>
            <a:off x="11465662" y="936346"/>
            <a:ext cx="82296" cy="8229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使用边界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035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能信到什么程度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7455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情报参考,不是执法依据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21671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核验状态与风险等级仅供情报参考,口岸措施以海关总署等官方公告为准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112471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对外发言只引“已核验”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涉及对外表态或正式判断时,只引用已核验事件;每期报告末尾都带此声明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11247120" cy="0"/>
          </a:xfrm>
          <a:prstGeom prst="line">
            <a:avLst/>
          </a:prstGeom>
          <a:noFill/>
          <a:ln w="9525">
            <a:solidFill>
              <a:srgbClr val="DC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5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负责筛,人负责断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" y="4636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系统把你从全网找信息中解放出来——筛信号、附出处;最后的判断,靠在座各位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749040"/>
            <a:ext cx="2651760" cy="2651760"/>
          </a:xfrm>
          <a:prstGeom prst="ellipse">
            <a:avLst/>
          </a:prstGeom>
          <a:ln w="12700">
            <a:solidFill>
              <a:srgbClr val="2E4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85402" y="4173322"/>
            <a:ext cx="1803197" cy="1803197"/>
          </a:xfrm>
          <a:prstGeom prst="ellipse">
            <a:avLst/>
          </a:prstGeom>
          <a:ln w="12700">
            <a:solidFill>
              <a:srgbClr val="2E4A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9683" y="4597603"/>
            <a:ext cx="954634" cy="954634"/>
          </a:xfrm>
          <a:prstGeom prst="ellipse">
            <a:avLst/>
          </a:prstGeom>
          <a:ln w="12700">
            <a:solidFill>
              <a:srgbClr val="2E4A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83696" y="4613148"/>
            <a:ext cx="128016" cy="128016"/>
          </a:xfrm>
          <a:prstGeom prst="ellipse">
            <a:avLst/>
          </a:prstGeom>
          <a:solidFill>
            <a:srgbClr val="D9543F"/>
          </a:solidFill>
          <a:ln/>
        </p:spPr>
      </p:sp>
      <p:sp>
        <p:nvSpPr>
          <p:cNvPr id="6" name="Shape 4"/>
          <p:cNvSpPr/>
          <p:nvPr/>
        </p:nvSpPr>
        <p:spPr>
          <a:xfrm>
            <a:off x="9427464" y="5740146"/>
            <a:ext cx="128016" cy="128016"/>
          </a:xfrm>
          <a:prstGeom prst="ellipse">
            <a:avLst/>
          </a:prstGeom>
          <a:solidFill>
            <a:srgbClr val="3E8E62"/>
          </a:solidFill>
          <a:ln/>
        </p:spPr>
      </p:sp>
      <p:sp>
        <p:nvSpPr>
          <p:cNvPr id="7" name="Shape 5"/>
          <p:cNvSpPr/>
          <p:nvPr/>
        </p:nvSpPr>
        <p:spPr>
          <a:xfrm>
            <a:off x="10421874" y="3883914"/>
            <a:ext cx="128016" cy="12801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FB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100" b="1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你负责每天花 3 分钟看结论;</a:t>
            </a:r>
            <a:endParaRPr lang="en-US" sz="3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100" b="1" dirty="0">
                <a:solidFill>
                  <a:srgbClr val="F2F7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全球扫描、真假核验、风险评估,雷达替你干。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896112" y="3657600"/>
            <a:ext cx="2377440" cy="0"/>
          </a:xfrm>
          <a:prstGeom prst="line">
            <a:avLst/>
          </a:prstGeom>
          <a:noFill/>
          <a:ln w="31750">
            <a:solidFill>
              <a:srgbClr val="D954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欢迎提需求:想重点盯的病害、国家、产品,告诉管理员加入关注清单,下一轮搜索即生效。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9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1067</Words>
  <Application>Microsoft Office PowerPoint</Application>
  <PresentationFormat>宽屏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疫见全球 · 系统介绍</dc:title>
  <dc:subject>PptxGenJS Presentation</dc:subject>
  <dc:creator>疫见全球</dc:creator>
  <cp:lastModifiedBy>ThinkPad</cp:lastModifiedBy>
  <cp:revision>4</cp:revision>
  <dcterms:created xsi:type="dcterms:W3CDTF">2026-09-14T14:35:53Z</dcterms:created>
  <dcterms:modified xsi:type="dcterms:W3CDTF">2026-09-14T14:41:57Z</dcterms:modified>
</cp:coreProperties>
</file>